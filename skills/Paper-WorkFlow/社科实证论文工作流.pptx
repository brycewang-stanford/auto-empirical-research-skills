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4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54864" cy="6858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72600" y="868680"/>
            <a:ext cx="310896" cy="310896"/>
          </a:xfrm>
          <a:prstGeom prst="ellipse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850392"/>
            <a:ext cx="21945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0" y="1179576"/>
            <a:ext cx="25400" cy="356616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72600" y="1536192"/>
            <a:ext cx="310896" cy="310896"/>
          </a:xfrm>
          <a:prstGeom prst="ellipse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1517904"/>
            <a:ext cx="21945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1847088"/>
            <a:ext cx="25400" cy="356616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72600" y="2203704"/>
            <a:ext cx="310896" cy="310896"/>
          </a:xfrm>
          <a:prstGeom prst="ellipse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29800" y="2185416"/>
            <a:ext cx="21945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0" y="2514600"/>
            <a:ext cx="25400" cy="356616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72600" y="2871216"/>
            <a:ext cx="310896" cy="310896"/>
          </a:xfrm>
          <a:prstGeom prst="ellipse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29800" y="2852928"/>
            <a:ext cx="21945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估计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3182112"/>
            <a:ext cx="25400" cy="356616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72600" y="3538728"/>
            <a:ext cx="310896" cy="310896"/>
          </a:xfrm>
          <a:prstGeom prst="ellipse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9800" y="3520440"/>
            <a:ext cx="21945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呈现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3849624"/>
            <a:ext cx="25400" cy="356616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72600" y="4206240"/>
            <a:ext cx="310896" cy="310896"/>
          </a:xfrm>
          <a:prstGeom prst="ellipse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4187952"/>
            <a:ext cx="21945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写作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4517136"/>
            <a:ext cx="25400" cy="356616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72600" y="4873752"/>
            <a:ext cx="310896" cy="310896"/>
          </a:xfrm>
          <a:prstGeom prst="ellipse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9800" y="4855464"/>
            <a:ext cx="21945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5184648"/>
            <a:ext cx="25400" cy="356616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72600" y="5541264"/>
            <a:ext cx="310896" cy="310896"/>
          </a:xfrm>
          <a:prstGeom prst="ellipse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5522976"/>
            <a:ext cx="21945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投稿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1737360"/>
            <a:ext cx="7680960" cy="2377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5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社科实证论文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54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全流程 Workflow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6D2E2"/>
                </a:solidFill>
                <a:latin typeface="Microsoft YaHei"/>
                <a:ea typeface="Microsoft YaHei"/>
                <a:cs typeface="Microsoft YaHei"/>
              </a:rPr>
              <a:t>从一个想法到一篇可投稿论文 · 用 AI 技能编排的端到端实证研究流水线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4572000"/>
            <a:ext cx="2377440" cy="381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800600"/>
            <a:ext cx="768096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演示方法：双重差分 DiD（配套可运行 Notebook）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0C8"/>
                </a:solidFill>
                <a:latin typeface="Microsoft YaHei"/>
                <a:ea typeface="Microsoft YaHei"/>
                <a:cs typeface="Microsoft YaHei"/>
              </a:rPr>
              <a:t>基于 econfin-workflow-toolkit · 47 个技能 · 8 个阶段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60704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目录 · 七个板块 + 一次实操演示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2794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02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社科实证论文 Workflow  ·  econfin-workflow-toolkit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34924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83080"/>
            <a:ext cx="82296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56232"/>
            <a:ext cx="9144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892808"/>
            <a:ext cx="40690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为什么需要『工作流』思维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实证研究的痛点与流水线总览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34924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82296" cy="914400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856232"/>
            <a:ext cx="9144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E868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892808"/>
            <a:ext cx="40690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选题与研究设计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idea-finder · novelty-check · proposal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862072"/>
            <a:ext cx="534924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862072"/>
            <a:ext cx="82296" cy="914400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2935224"/>
            <a:ext cx="9144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E868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2971800"/>
            <a:ext cx="40690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数据获取与清洗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data-fetcher · data-cleaning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862072"/>
            <a:ext cx="534924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862072"/>
            <a:ext cx="82296" cy="9144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2935224"/>
            <a:ext cx="9144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971800"/>
            <a:ext cx="40690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计量识别与估计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OLS / Panel / IV / DiD / RDD / SCM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941064"/>
            <a:ext cx="534924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3941064"/>
            <a:ext cx="82296" cy="9144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4014216"/>
            <a:ext cx="9144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050792"/>
            <a:ext cx="40690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聚焦 DiD（本次演示）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平行趋势 · 事件研究 · 交错 DiD · 稳健性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941064"/>
            <a:ext cx="534924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941064"/>
            <a:ext cx="82296" cy="914400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4014216"/>
            <a:ext cx="9144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E868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4050792"/>
            <a:ext cx="40690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结果呈现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table · figure 出版级表图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5020056"/>
            <a:ext cx="534924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5020056"/>
            <a:ext cx="82296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" y="5093208"/>
            <a:ext cx="9144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129784"/>
            <a:ext cx="40690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写作 · 评审 · 投稿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paper-pipeline · referee · submission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5020056"/>
            <a:ext cx="5349240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5020056"/>
            <a:ext cx="82296" cy="9144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64808" y="5093208"/>
            <a:ext cx="9144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5129784"/>
            <a:ext cx="40690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实操：did_demo.ipynb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9C6DA"/>
                </a:solidFill>
                <a:latin typeface="Microsoft YaHei"/>
                <a:ea typeface="Microsoft YaHei"/>
                <a:cs typeface="Microsoft YaHei"/>
              </a:rPr>
              <a:t>一键跑通一个完整 DiD 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5029200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0" b="1" i="0">
                <a:solidFill>
                  <a:srgbClr val="14284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331720"/>
            <a:ext cx="109728" cy="20116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2331720"/>
            <a:ext cx="6766560" cy="2377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为什么需要『工作流』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WHY WORKFLOW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6D2E2"/>
                </a:solidFill>
                <a:latin typeface="Microsoft YaHei"/>
                <a:ea typeface="Microsoft YaHei"/>
                <a:cs typeface="Microsoft YaHei"/>
              </a:rPr>
              <a:t>实证研究真正的难点在『串联』——
把选题、数据、识别、写作、投稿连成一条可复现、可交接的主线。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BA6"/>
                </a:solidFill>
                <a:latin typeface="Microsoft YaHei"/>
                <a:ea typeface="Microsoft YaHei"/>
                <a:cs typeface="Microsoft YaHei"/>
              </a:rPr>
              <a:t>03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1 · 为什么需要工作流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60704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实证研究真正难的，不是某一步，而是『串起来』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2794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04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社科实证论文 Workflow  ·  econfin-workflow-toolkit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3611880" cy="132588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83080"/>
            <a:ext cx="3611880" cy="6400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929384"/>
            <a:ext cx="3246120" cy="1051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选题悬浮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想法多但说不清新意与贡献，不知道能投哪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2272" y="1783080"/>
            <a:ext cx="3611880" cy="132588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62272" y="1783080"/>
            <a:ext cx="3611880" cy="64008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929384"/>
            <a:ext cx="3246120" cy="1051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数据黑箱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清洗口径无记录，半年后自己都复现不了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38744" y="1783080"/>
            <a:ext cx="3611880" cy="132588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38744" y="1783080"/>
            <a:ext cx="3611880" cy="6400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1929384"/>
            <a:ext cx="3246120" cy="1051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方法误用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交错 DiD 直接上 TWFE，识别假设不自检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273552"/>
            <a:ext cx="3611880" cy="132588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273552"/>
            <a:ext cx="3611880" cy="64008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419856"/>
            <a:ext cx="3246120" cy="1051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表图粗糙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回归表手工拼贴，格式与期刊要求不符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2272" y="3273552"/>
            <a:ext cx="3611880" cy="132588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3273552"/>
            <a:ext cx="3611880" cy="6400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419856"/>
            <a:ext cx="3246120" cy="1051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写作返工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结构反复推翻，润色、自审、改格式来回拉扯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38744" y="3273552"/>
            <a:ext cx="3611880" cy="132588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38744" y="3273552"/>
            <a:ext cx="3611880" cy="64008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9912" y="3419856"/>
            <a:ext cx="3246120" cy="1051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投稿低效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期刊匹配靠猜，cover letter 与格式临时赶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892040"/>
            <a:ext cx="10835640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4892040"/>
            <a:ext cx="109728" cy="1143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038344"/>
            <a:ext cx="103327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破局点：</a:t>
            </a:r>
            <a:r>
              <a:rPr sz="1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把研究拆成可复现、可交接、可自检的 </a:t>
            </a:r>
            <a:r>
              <a:rPr sz="1700" b="1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8 个阶段</a:t>
            </a:r>
            <a:r>
              <a:rPr sz="1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，每一步配一个专职技能 —— 流程显性化，质量才可控。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9C6DA"/>
                </a:solidFill>
                <a:latin typeface="Microsoft YaHei"/>
                <a:ea typeface="Microsoft YaHei"/>
                <a:cs typeface="Microsoft YaHei"/>
              </a:rPr>
              <a:t>econfin-workflow-toolkit 的设计哲学：高层 orchestrator（如 paper-pipeline）按固定顺序调度单点技能。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1 · 工作流总览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60704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八个阶段，一条主线：想法 → 可投稿论文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2794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05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社科实证论文 Workflow  ·  econfin-workflow-toolkit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1243584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74519"/>
            <a:ext cx="1243584" cy="384048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92807"/>
            <a:ext cx="1243584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选题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31719"/>
            <a:ext cx="1243584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Ideation</a:t>
            </a:r>
          </a:p>
        </p:txBody>
      </p:sp>
      <p:sp>
        <p:nvSpPr>
          <p:cNvPr id="13" name="Chevron 12"/>
          <p:cNvSpPr/>
          <p:nvPr/>
        </p:nvSpPr>
        <p:spPr>
          <a:xfrm>
            <a:off x="1865376" y="2350007"/>
            <a:ext cx="155448" cy="411480"/>
          </a:xfrm>
          <a:prstGeom prst="chevron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02536" y="1874519"/>
            <a:ext cx="1243584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02536" y="1874519"/>
            <a:ext cx="1243584" cy="384048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02536" y="1892807"/>
            <a:ext cx="1243584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02536" y="2331719"/>
            <a:ext cx="1243584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Design</a:t>
            </a:r>
          </a:p>
        </p:txBody>
      </p:sp>
      <p:sp>
        <p:nvSpPr>
          <p:cNvPr id="18" name="Chevron 17"/>
          <p:cNvSpPr/>
          <p:nvPr/>
        </p:nvSpPr>
        <p:spPr>
          <a:xfrm>
            <a:off x="3227832" y="2350007"/>
            <a:ext cx="155448" cy="411480"/>
          </a:xfrm>
          <a:prstGeom prst="chevron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4992" y="1874519"/>
            <a:ext cx="1243584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64992" y="1874519"/>
            <a:ext cx="1243584" cy="384048"/>
          </a:xfrm>
          <a:prstGeom prst="rect">
            <a:avLst/>
          </a:prstGeom>
          <a:solidFill>
            <a:srgbClr val="D9A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64992" y="1892807"/>
            <a:ext cx="1243584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2331719"/>
            <a:ext cx="1243584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Data</a:t>
            </a:r>
          </a:p>
        </p:txBody>
      </p:sp>
      <p:sp>
        <p:nvSpPr>
          <p:cNvPr id="23" name="Chevron 22"/>
          <p:cNvSpPr/>
          <p:nvPr/>
        </p:nvSpPr>
        <p:spPr>
          <a:xfrm>
            <a:off x="4590288" y="2350007"/>
            <a:ext cx="155448" cy="411480"/>
          </a:xfrm>
          <a:prstGeom prst="chevron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27448" y="1874519"/>
            <a:ext cx="1243584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27448" y="1874519"/>
            <a:ext cx="1243584" cy="38404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27448" y="1892807"/>
            <a:ext cx="1243584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 估计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2331719"/>
            <a:ext cx="1243584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Estimation</a:t>
            </a:r>
          </a:p>
        </p:txBody>
      </p:sp>
      <p:sp>
        <p:nvSpPr>
          <p:cNvPr id="28" name="Chevron 27"/>
          <p:cNvSpPr/>
          <p:nvPr/>
        </p:nvSpPr>
        <p:spPr>
          <a:xfrm>
            <a:off x="5952744" y="2350007"/>
            <a:ext cx="155448" cy="411480"/>
          </a:xfrm>
          <a:prstGeom prst="chevron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89904" y="1874519"/>
            <a:ext cx="1243584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1874519"/>
            <a:ext cx="1243584" cy="384048"/>
          </a:xfrm>
          <a:prstGeom prst="rect">
            <a:avLst/>
          </a:prstGeom>
          <a:solidFill>
            <a:srgbClr val="D9A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9904" y="1892807"/>
            <a:ext cx="1243584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⑤ 呈现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9904" y="2331719"/>
            <a:ext cx="1243584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Tables/Figures</a:t>
            </a:r>
          </a:p>
        </p:txBody>
      </p:sp>
      <p:sp>
        <p:nvSpPr>
          <p:cNvPr id="33" name="Chevron 32"/>
          <p:cNvSpPr/>
          <p:nvPr/>
        </p:nvSpPr>
        <p:spPr>
          <a:xfrm>
            <a:off x="7315200" y="2350007"/>
            <a:ext cx="155448" cy="411480"/>
          </a:xfrm>
          <a:prstGeom prst="chevron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52360" y="1874519"/>
            <a:ext cx="1243584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52360" y="1874519"/>
            <a:ext cx="1243584" cy="384048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60" y="1892807"/>
            <a:ext cx="1243584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⑥ 写作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2331719"/>
            <a:ext cx="1243584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Writing</a:t>
            </a:r>
          </a:p>
        </p:txBody>
      </p:sp>
      <p:sp>
        <p:nvSpPr>
          <p:cNvPr id="38" name="Chevron 37"/>
          <p:cNvSpPr/>
          <p:nvPr/>
        </p:nvSpPr>
        <p:spPr>
          <a:xfrm>
            <a:off x="8677656" y="2350007"/>
            <a:ext cx="155448" cy="411480"/>
          </a:xfrm>
          <a:prstGeom prst="chevron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14816" y="1874519"/>
            <a:ext cx="1243584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14816" y="1874519"/>
            <a:ext cx="1243584" cy="384048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14816" y="1892807"/>
            <a:ext cx="1243584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⑦ 评审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14816" y="2331719"/>
            <a:ext cx="1243584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Review</a:t>
            </a:r>
          </a:p>
        </p:txBody>
      </p:sp>
      <p:sp>
        <p:nvSpPr>
          <p:cNvPr id="43" name="Chevron 42"/>
          <p:cNvSpPr/>
          <p:nvPr/>
        </p:nvSpPr>
        <p:spPr>
          <a:xfrm>
            <a:off x="10040112" y="2350007"/>
            <a:ext cx="155448" cy="411480"/>
          </a:xfrm>
          <a:prstGeom prst="chevron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77272" y="1874519"/>
            <a:ext cx="1243584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177272" y="1874519"/>
            <a:ext cx="1243584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77272" y="1892807"/>
            <a:ext cx="1243584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⑧ 投稿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77272" y="2331719"/>
            <a:ext cx="1243584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Submission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3520440"/>
            <a:ext cx="10835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贯穿全程：</a:t>
            </a:r>
            <a:r>
              <a:rPr sz="1350" b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web-research / arxiv 查文献 · stata / stats 计量底座 · reference-verify 引用核查 · markitdown 文档互转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4114800"/>
            <a:ext cx="1243584" cy="841248"/>
          </a:xfrm>
          <a:prstGeom prst="rect">
            <a:avLst/>
          </a:prstGeom>
          <a:solidFill>
            <a:srgbClr val="FFFFFF"/>
          </a:solidFill>
          <a:ln w="17780">
            <a:solidFill>
              <a:srgbClr val="2E8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4160520"/>
            <a:ext cx="1152144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8686"/>
                </a:solidFill>
                <a:latin typeface="Microsoft YaHei"/>
                <a:ea typeface="Microsoft YaHei"/>
                <a:cs typeface="Microsoft YaHei"/>
              </a:rPr>
              <a:t>产出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研究问题 + 贡献点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02536" y="4114800"/>
            <a:ext cx="1243584" cy="841248"/>
          </a:xfrm>
          <a:prstGeom prst="rect">
            <a:avLst/>
          </a:prstGeom>
          <a:solidFill>
            <a:srgbClr val="FFFFFF"/>
          </a:solidFill>
          <a:ln w="17780">
            <a:solidFill>
              <a:srgbClr val="2E8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48256" y="4160520"/>
            <a:ext cx="1152144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8686"/>
                </a:solidFill>
                <a:latin typeface="Microsoft YaHei"/>
                <a:ea typeface="Microsoft YaHei"/>
                <a:cs typeface="Microsoft YaHei"/>
              </a:rPr>
              <a:t>产出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识别策略 + 期刊画像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64992" y="4114800"/>
            <a:ext cx="1243584" cy="841248"/>
          </a:xfrm>
          <a:prstGeom prst="rect">
            <a:avLst/>
          </a:prstGeom>
          <a:solidFill>
            <a:srgbClr val="FFFFFF"/>
          </a:solidFill>
          <a:ln w="17780">
            <a:solidFill>
              <a:srgbClr val="D9A5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10712" y="4160520"/>
            <a:ext cx="1152144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D9A521"/>
                </a:solidFill>
                <a:latin typeface="Microsoft YaHei"/>
                <a:ea typeface="Microsoft YaHei"/>
                <a:cs typeface="Microsoft YaHei"/>
              </a:rPr>
              <a:t>产出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可复现分析数据集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27448" y="4114800"/>
            <a:ext cx="1243584" cy="841248"/>
          </a:xfrm>
          <a:prstGeom prst="rect">
            <a:avLst/>
          </a:prstGeom>
          <a:solidFill>
            <a:srgbClr val="FFFFFF"/>
          </a:solidFill>
          <a:ln w="17780">
            <a:solidFill>
              <a:srgbClr val="E07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73168" y="4160520"/>
            <a:ext cx="1152144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产出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ATT 估计 + 稳健性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89904" y="4114800"/>
            <a:ext cx="1243584" cy="841248"/>
          </a:xfrm>
          <a:prstGeom prst="rect">
            <a:avLst/>
          </a:prstGeom>
          <a:solidFill>
            <a:srgbClr val="FFFFFF"/>
          </a:solidFill>
          <a:ln w="17780">
            <a:solidFill>
              <a:srgbClr val="D9A5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35624" y="4160520"/>
            <a:ext cx="1152144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D9A521"/>
                </a:solidFill>
                <a:latin typeface="Microsoft YaHei"/>
                <a:ea typeface="Microsoft YaHei"/>
                <a:cs typeface="Microsoft YaHei"/>
              </a:rPr>
              <a:t>产出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出版级表 &amp; 图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52360" y="4114800"/>
            <a:ext cx="1243584" cy="841248"/>
          </a:xfrm>
          <a:prstGeom prst="rect">
            <a:avLst/>
          </a:prstGeom>
          <a:solidFill>
            <a:srgbClr val="FFFFFF"/>
          </a:solidFill>
          <a:ln w="17780">
            <a:solidFill>
              <a:srgbClr val="2E8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98080" y="4160520"/>
            <a:ext cx="1152144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8686"/>
                </a:solidFill>
                <a:latin typeface="Microsoft YaHei"/>
                <a:ea typeface="Microsoft YaHei"/>
                <a:cs typeface="Microsoft YaHei"/>
              </a:rPr>
              <a:t>产出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结构完整初稿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14816" y="4114800"/>
            <a:ext cx="1243584" cy="841248"/>
          </a:xfrm>
          <a:prstGeom prst="rect">
            <a:avLst/>
          </a:prstGeom>
          <a:solidFill>
            <a:srgbClr val="FFFFFF"/>
          </a:solidFill>
          <a:ln w="17780">
            <a:solidFill>
              <a:srgbClr val="2E8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60536" y="4160520"/>
            <a:ext cx="1152144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8686"/>
                </a:solidFill>
                <a:latin typeface="Microsoft YaHei"/>
                <a:ea typeface="Microsoft YaHei"/>
                <a:cs typeface="Microsoft YaHei"/>
              </a:rPr>
              <a:t>产出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审稿意见 + 回应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177272" y="4114800"/>
            <a:ext cx="1243584" cy="841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222992" y="4160520"/>
            <a:ext cx="1152144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产出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投稿包 + cover letter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5257800"/>
            <a:ext cx="108356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每个阶段都有明确『输入 → 处理 → 产出』，上一阶段的产出即下一阶段的输入。这让协作、复现与质量门禁成为可能 —— 这正是『工作流』相对『单点提示词』的根本优势。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1 · 工具箱全景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60704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47 个技能，按阶段编排成一张地图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2794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06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社科实证论文 Workflow  ·  econfin-workflow-toolkit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3529584" cy="1499616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3529584" cy="329184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737360"/>
            <a:ext cx="3255264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选题 &amp; 设计  · 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121408"/>
            <a:ext cx="3291840" cy="104241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• econfin-idea-finder   • econfin-proposal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• novelty-check   • significance-search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• journal-digest   • master-thesis-review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36992" y="1737360"/>
            <a:ext cx="3529584" cy="877824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36992" y="1737360"/>
            <a:ext cx="3529584" cy="329184"/>
          </a:xfrm>
          <a:prstGeom prst="rect">
            <a:avLst/>
          </a:prstGeom>
          <a:solidFill>
            <a:srgbClr val="D9A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74152" y="1737360"/>
            <a:ext cx="3255264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  · 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2121408"/>
            <a:ext cx="3291840" cy="4206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• data-fetcher   • data-cleaning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737360"/>
            <a:ext cx="3529584" cy="2121408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737360"/>
            <a:ext cx="3529584" cy="32918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737360"/>
            <a:ext cx="3255264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计量估计  · 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2121408"/>
            <a:ext cx="3291840" cy="16642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• ols-regression   • panel-data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• iv-estimation   • did-analysis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• rdd-analysis   • synthetic-control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• time-series   • ml-causal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• stata   • stats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968496"/>
            <a:ext cx="3529584" cy="877824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968496"/>
            <a:ext cx="3529584" cy="329184"/>
          </a:xfrm>
          <a:prstGeom prst="rect">
            <a:avLst/>
          </a:prstGeom>
          <a:solidFill>
            <a:srgbClr val="D9A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968496"/>
            <a:ext cx="3255264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 &amp; 图  · 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5696" y="4352544"/>
            <a:ext cx="3291840" cy="4206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• table   • figure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346704"/>
            <a:ext cx="3529584" cy="1499616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346704"/>
            <a:ext cx="3529584" cy="329184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3346704"/>
            <a:ext cx="3255264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写作 &amp; 润色  · 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3730752"/>
            <a:ext cx="3291840" cy="104241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• paper-writer   • paper-style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• paper-polish   • paper-self-revise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• paper-pipeline   • readability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4956048"/>
            <a:ext cx="3529584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4956048"/>
            <a:ext cx="3529584" cy="32918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4956048"/>
            <a:ext cx="3255264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 &amp; 引用  · 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25696" y="5340096"/>
            <a:ext cx="32918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• referee-report   • paper-referee-revise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• reference-verify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36992" y="2724912"/>
            <a:ext cx="3529584" cy="877824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36992" y="2724912"/>
            <a:ext cx="3529584" cy="32918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74152" y="2724912"/>
            <a:ext cx="3255264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投稿  · 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5008" y="3108960"/>
            <a:ext cx="3291840" cy="4206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• paper-submission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956048"/>
            <a:ext cx="3529584" cy="1810512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956048"/>
            <a:ext cx="3529584" cy="329184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8" y="4956048"/>
            <a:ext cx="3255264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写作辅助 / 转换 / 检索  ·  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" y="5340096"/>
            <a:ext cx="3291840" cy="13533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• marp-slides-creator   • chinese-ppt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• md-to-docx   • markitdown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• web-research   • arxiv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• agent-browser   • fix-chinese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36992" y="3758184"/>
            <a:ext cx="3529584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编排方式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高层 orchestrator（paper-pipeline）按固定顺序调用单点技能；你也可以单独调用任意一个技能。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5029200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0" b="1" i="0">
                <a:solidFill>
                  <a:srgbClr val="14284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331720"/>
            <a:ext cx="109728" cy="20116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2331720"/>
            <a:ext cx="6766560" cy="2377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选题与研究设计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IDEATION &amp; DESIGN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6D2E2"/>
                </a:solidFill>
                <a:latin typeface="Microsoft YaHei"/>
                <a:ea typeface="Microsoft YaHei"/>
                <a:cs typeface="Microsoft YaHei"/>
              </a:rPr>
              <a:t>把模糊的兴趣，磨成一个有新意、可识别、能投稿的研究问题，
并翻译成可执行的研究计划书。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BA6"/>
                </a:solidFill>
                <a:latin typeface="Microsoft YaHei"/>
                <a:ea typeface="Microsoft YaHei"/>
                <a:cs typeface="Microsoft YaHei"/>
              </a:rPr>
              <a:t>07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2 · 选题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60704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把模糊的兴趣，磨成『有新意、可识别、能投稿』的问题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2794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08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社科实证论文 Workflow  ·  econfin-workflow-toolkit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3529584" cy="265176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82296" cy="2651760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947672"/>
            <a:ext cx="3191256" cy="2468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8686"/>
                </a:solidFill>
                <a:latin typeface="Microsoft YaHei"/>
                <a:ea typeface="Microsoft YaHei"/>
                <a:cs typeface="Microsoft YaHei"/>
              </a:rPr>
              <a:t>想法生成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econfin-idea-finder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从文献缺口 / 政策事件 / 新数据出发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批量产生候选研究问题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标注潜在识别策略与数据来源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1828800"/>
            <a:ext cx="3529584" cy="265176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828800"/>
            <a:ext cx="82296" cy="26517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947672"/>
            <a:ext cx="3191256" cy="2468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新意核查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novelty-check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对照已有文献检索相似研究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定位你的边际贡献在哪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避免『重复造轮子』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82712" y="1828800"/>
            <a:ext cx="3529584" cy="265176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82712" y="1828800"/>
            <a:ext cx="82296" cy="2651760"/>
          </a:xfrm>
          <a:prstGeom prst="rect">
            <a:avLst/>
          </a:prstGeom>
          <a:solidFill>
            <a:srgbClr val="D9A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947672"/>
            <a:ext cx="3191256" cy="2468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D9A521"/>
                </a:solidFill>
                <a:latin typeface="Microsoft YaHei"/>
                <a:ea typeface="Microsoft YaHei"/>
                <a:cs typeface="Microsoft YaHei"/>
              </a:rPr>
              <a:t>意义检索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significance-search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评估问题的理论与现实重要性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对接政策 / 行业关切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为引言的『so what』备料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754880"/>
            <a:ext cx="10835640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754880"/>
            <a:ext cx="109728" cy="1234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01184"/>
            <a:ext cx="1042416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输出 → </a:t>
            </a:r>
            <a:r>
              <a:rPr sz="1400" b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一句话研究问题 + 候选识别策略 + 3–5 篇最相关文献 + 边际贡献陈述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这份『选题卡片』直接喂给下一步 econfin-proposal，作为研究设计的输入。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2 · 研究设计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60704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立项 = 把『问题』翻译成『可执行的识别 + 数据 + 期刊』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2794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09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社科实证论文 Workflow  ·  econfin-workflow-toolkit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349240" cy="2057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82296" cy="2057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947672"/>
            <a:ext cx="5010912" cy="1874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econfin-proposal · 研究计划书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研究问题与假设 H1/H2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识别策略：DiD / IV / RDD / SCM 选型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样本、变量与数据来源清单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实证设计 + 预期结果 + 稳健性预案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041648"/>
            <a:ext cx="5349240" cy="2057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041648"/>
            <a:ext cx="82296" cy="2057400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4160520"/>
            <a:ext cx="5010912" cy="1874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journal-digest · 期刊画像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目标期刊近年选题与方法偏好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字数、结构、表图规范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为后续 paper-style 提供模板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257800" cy="4270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109728" cy="427024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029968"/>
            <a:ext cx="4754880" cy="3931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立项阶段必答的 6 个问题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 因果问题是什么？反事实是什么？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 变异来自哪里？为什么外生？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 用什么识别策略？关键假设可检验吗？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 数据能否支撑该设计（频率/层级/样本量）？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 主要威胁与稳健性检验清单？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6. 结果若显著 / 不显著，分别意味着什么？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5029200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0" b="1" i="0">
                <a:solidFill>
                  <a:srgbClr val="14284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331720"/>
            <a:ext cx="109728" cy="20116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2331720"/>
            <a:ext cx="6766560" cy="2377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数据获取与清洗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DATA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6D2E2"/>
                </a:solidFill>
                <a:latin typeface="Microsoft YaHei"/>
                <a:ea typeface="Microsoft YaHei"/>
                <a:cs typeface="Microsoft YaHei"/>
              </a:rPr>
              <a:t>定位来源 → 抓取 → 对齐键 → 合并 → 清洗 → 留痕。
这一阶段的产出，是一张可复现的『分析主表』。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BA6"/>
                </a:solidFill>
                <a:latin typeface="Microsoft YaHei"/>
                <a:ea typeface="Microsoft YaHei"/>
                <a:cs typeface="Microsoft YaHei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3 · 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60704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data-fetcher：把分散的原始数据，变成一张主表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2794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11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社科实证论文 Workflow  ·  econfin-workflow-toolkit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面板/横截面研究的第一道工序：定位来源 → 抓取 → 对齐键 → 合并 → 留痕。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31720"/>
            <a:ext cx="2651760" cy="155448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331720"/>
            <a:ext cx="2651760" cy="457200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68296"/>
            <a:ext cx="26517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公开数据库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98648"/>
            <a:ext cx="2340864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FRED · World Bank · Wind/CSMAR 导出 · 统计年鉴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10712" y="2331720"/>
            <a:ext cx="2651760" cy="155448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10712" y="2331720"/>
            <a:ext cx="2651760" cy="457200"/>
          </a:xfrm>
          <a:prstGeom prst="rect">
            <a:avLst/>
          </a:prstGeom>
          <a:solidFill>
            <a:srgbClr val="D9A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2368296"/>
            <a:ext cx="26517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文件导入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2898648"/>
            <a:ext cx="2340864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CSV / Excel / dta / parquet 统一读入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5624" y="2331720"/>
            <a:ext cx="2651760" cy="155448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35624" y="2331720"/>
            <a:ext cx="2651760" cy="4572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35624" y="2368296"/>
            <a:ext cx="26517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网络检索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2898648"/>
            <a:ext cx="2340864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web-research · arxiv · agent-browser 抓取补充变量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0536" y="2331720"/>
            <a:ext cx="2651760" cy="155448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0536" y="2331720"/>
            <a:ext cx="265176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0536" y="2368296"/>
            <a:ext cx="26517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API 接口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2898648"/>
            <a:ext cx="2340864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宏观、金融、专利等结构化接口拉取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160520"/>
            <a:ext cx="10835640" cy="1828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160520"/>
            <a:ext cx="109728" cy="18288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343400"/>
            <a:ext cx="1024128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合并的关键：键（key）必须干净且唯一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实体键：</a:t>
            </a:r>
            <a:r>
              <a:rPr sz="1250" b="0">
                <a:solidFill>
                  <a:srgbClr val="C6D2E2"/>
                </a:solidFill>
                <a:latin typeface="Microsoft YaHei"/>
                <a:ea typeface="Microsoft YaHei"/>
                <a:cs typeface="Microsoft YaHei"/>
              </a:rPr>
              <a:t>公司代码 / 个体 ID / 地区码 —— 跨源统一编码，处理历史变更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时间键：</a:t>
            </a:r>
            <a:r>
              <a:rPr sz="1250" b="0">
                <a:solidFill>
                  <a:srgbClr val="C6D2E2"/>
                </a:solidFill>
                <a:latin typeface="Microsoft YaHei"/>
                <a:ea typeface="Microsoft YaHei"/>
                <a:cs typeface="Microsoft YaHei"/>
              </a:rPr>
              <a:t>year / quarter / month —— 频率对齐，注意财政年 vs 自然年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留痕：</a:t>
            </a:r>
            <a:r>
              <a:rPr sz="1250" b="0">
                <a:solidFill>
                  <a:srgbClr val="C6D2E2"/>
                </a:solidFill>
                <a:latin typeface="Microsoft YaHei"/>
                <a:ea typeface="Microsoft YaHei"/>
                <a:cs typeface="Microsoft YaHei"/>
              </a:rPr>
              <a:t>每一次抓取与合并记录来源、口径、时间戳 —— 半年后还能复现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3 · 数据清洗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60704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data-cleaning：从『能跑』到『可信』之间的全部脏活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2794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12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社科实证论文 Workflow  ·  econfin-workflow-toolkit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3529584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83080"/>
            <a:ext cx="82296" cy="1234440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911096"/>
            <a:ext cx="3209544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缺失值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标记 vs 插补 vs 删除；区分 MCAR/MAR/MNAR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1783080"/>
            <a:ext cx="3529584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783080"/>
            <a:ext cx="82296" cy="1234440"/>
          </a:xfrm>
          <a:prstGeom prst="rect">
            <a:avLst/>
          </a:prstGeom>
          <a:solidFill>
            <a:srgbClr val="D9A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911096"/>
            <a:ext cx="3209544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异常值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缩尾 winsorize（1%/99%）或截尾，留对照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82712" y="1783080"/>
            <a:ext cx="3529584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82712" y="1783080"/>
            <a:ext cx="82296" cy="12344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911096"/>
            <a:ext cx="3209544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变量构造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对数、增长率、比率、标准化、滞后项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182112"/>
            <a:ext cx="3529584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182112"/>
            <a:ext cx="82296" cy="1234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310128"/>
            <a:ext cx="3209544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面板结构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平衡性检查、重复键、进入/退出样本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34256" y="3182112"/>
            <a:ext cx="3529584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34256" y="3182112"/>
            <a:ext cx="82296" cy="1234440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3310128"/>
            <a:ext cx="3209544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单位与量纲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货币/通胀平减、百万 vs 元、统一计量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82712" y="3182112"/>
            <a:ext cx="3529584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82712" y="3182112"/>
            <a:ext cx="82296" cy="1234440"/>
          </a:xfrm>
          <a:prstGeom prst="rect">
            <a:avLst/>
          </a:prstGeom>
          <a:solidFill>
            <a:srgbClr val="D9A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3310128"/>
            <a:ext cx="3209544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分类与编码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行业/地区码统一、哑变量、固定效应分组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983480"/>
            <a:ext cx="1083564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4983480"/>
            <a:ext cx="109728" cy="10058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074920"/>
            <a:ext cx="103327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原则：</a:t>
            </a:r>
            <a:r>
              <a:rPr sz="1400" b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每一步清洗都写成可重跑的脚本 + 一行注释说明『为什么这么处理』。清洗日志本身就是论文附录的数据章节。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5029200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0" b="1" i="0">
                <a:solidFill>
                  <a:srgbClr val="14284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331720"/>
            <a:ext cx="109728" cy="20116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2331720"/>
            <a:ext cx="6766560" cy="2377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计量识别与估计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ESTIMATION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6D2E2"/>
                </a:solidFill>
                <a:latin typeface="Microsoft YaHei"/>
                <a:ea typeface="Microsoft YaHei"/>
                <a:cs typeface="Microsoft YaHei"/>
              </a:rPr>
              <a:t>方法服从于识别：先问『反事实从哪来』，
再从八种识别策略里选对应的估计量。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BA6"/>
                </a:solidFill>
                <a:latin typeface="Microsoft YaHei"/>
                <a:ea typeface="Microsoft YaHei"/>
                <a:cs typeface="Microsoft YaHei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4 · 计量识别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60704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八种识别策略：先有『干净的变异』，再谈回归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2794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14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社科实证论文 Workflow  ·  econfin-workflow-toolkit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737360"/>
            <a:ext cx="1083564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55648"/>
            <a:ext cx="224028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755648"/>
            <a:ext cx="214884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对应技能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1755648"/>
            <a:ext cx="301752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适用场景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755648"/>
            <a:ext cx="28803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核心威胁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194560"/>
            <a:ext cx="10835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194560"/>
            <a:ext cx="64008" cy="5029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2194560"/>
            <a:ext cx="21945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OLS / 多元回归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91256" y="2194560"/>
            <a:ext cx="21031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ols-regression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77256" y="2194560"/>
            <a:ext cx="2971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控制混淆后的条件相关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1936" y="2194560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选择性偏误难排除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697480"/>
            <a:ext cx="10835640" cy="502920"/>
          </a:xfrm>
          <a:prstGeom prst="rect">
            <a:avLst/>
          </a:prstGeom>
          <a:solidFill>
            <a:srgbClr val="ECEFF3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2697480"/>
            <a:ext cx="64008" cy="502920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2697480"/>
            <a:ext cx="21945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面板固定效应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91256" y="2697480"/>
            <a:ext cx="21031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E8686"/>
                </a:solidFill>
                <a:latin typeface="Microsoft YaHei"/>
                <a:ea typeface="Microsoft YaHei"/>
                <a:cs typeface="Microsoft YaHei"/>
              </a:rPr>
              <a:t>panel-data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77256" y="2697480"/>
            <a:ext cx="2971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个体/时间不可观测异质性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1936" y="2697480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时变混淆仍威胁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200400"/>
            <a:ext cx="10835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3200400"/>
            <a:ext cx="64008" cy="502920"/>
          </a:xfrm>
          <a:prstGeom prst="rect">
            <a:avLst/>
          </a:prstGeom>
          <a:solidFill>
            <a:srgbClr val="D9A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" y="3200400"/>
            <a:ext cx="21945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工具变量 IV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91256" y="3200400"/>
            <a:ext cx="21031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9A521"/>
                </a:solidFill>
                <a:latin typeface="Microsoft YaHei"/>
                <a:ea typeface="Microsoft YaHei"/>
                <a:cs typeface="Microsoft YaHei"/>
              </a:rPr>
              <a:t>iv-estimation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77256" y="3200400"/>
            <a:ext cx="2971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内生性 / 反向因果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31936" y="3200400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弱工具 &amp; 排他性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703320"/>
            <a:ext cx="10835640" cy="502920"/>
          </a:xfrm>
          <a:prstGeom prst="rect">
            <a:avLst/>
          </a:prstGeom>
          <a:solidFill>
            <a:srgbClr val="ECEFF3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3703320"/>
            <a:ext cx="64008" cy="5029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" y="3703320"/>
            <a:ext cx="21945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双重差分 DiD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91256" y="3703320"/>
            <a:ext cx="21031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did-analysis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77256" y="3703320"/>
            <a:ext cx="2971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政策冲击 / 自然实验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31936" y="3703320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平行趋势 &amp; 交错偏误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206240"/>
            <a:ext cx="10835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5800" y="4206240"/>
            <a:ext cx="64008" cy="502920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" y="4206240"/>
            <a:ext cx="21945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断点回归 RDD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91256" y="4206240"/>
            <a:ext cx="21031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E8686"/>
                </a:solidFill>
                <a:latin typeface="Microsoft YaHei"/>
                <a:ea typeface="Microsoft YaHei"/>
                <a:cs typeface="Microsoft YaHei"/>
              </a:rPr>
              <a:t>rdd-analysis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77256" y="4206240"/>
            <a:ext cx="2971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阈值规则分配处理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31936" y="4206240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带宽 &amp; 操纵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4709160"/>
            <a:ext cx="10835640" cy="502920"/>
          </a:xfrm>
          <a:prstGeom prst="rect">
            <a:avLst/>
          </a:prstGeom>
          <a:solidFill>
            <a:srgbClr val="ECEFF3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5800" y="4709160"/>
            <a:ext cx="64008" cy="502920"/>
          </a:xfrm>
          <a:prstGeom prst="rect">
            <a:avLst/>
          </a:prstGeom>
          <a:solidFill>
            <a:srgbClr val="D9A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" y="4709160"/>
            <a:ext cx="21945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合成控制 SCM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91256" y="4709160"/>
            <a:ext cx="21031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9A521"/>
                </a:solidFill>
                <a:latin typeface="Microsoft YaHei"/>
                <a:ea typeface="Microsoft YaHei"/>
                <a:cs typeface="Microsoft YaHei"/>
              </a:rPr>
              <a:t>synthetic-control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77256" y="4709160"/>
            <a:ext cx="2971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单一处理单元（地区/国家）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31936" y="4709160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donor 池 &amp; 拟合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" y="5212080"/>
            <a:ext cx="10835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5800" y="5212080"/>
            <a:ext cx="64008" cy="502920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3816" y="5212080"/>
            <a:ext cx="21945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时间序列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91256" y="5212080"/>
            <a:ext cx="21031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E8686"/>
                </a:solidFill>
                <a:latin typeface="Microsoft YaHei"/>
                <a:ea typeface="Microsoft YaHei"/>
                <a:cs typeface="Microsoft YaHei"/>
              </a:rPr>
              <a:t>time-series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77256" y="5212080"/>
            <a:ext cx="2971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宏观/单变量动态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31936" y="5212080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平稳性 &amp; 结构突变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5800" y="5715000"/>
            <a:ext cx="10835640" cy="502920"/>
          </a:xfrm>
          <a:prstGeom prst="rect">
            <a:avLst/>
          </a:prstGeom>
          <a:solidFill>
            <a:srgbClr val="ECEFF3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5800" y="5715000"/>
            <a:ext cx="64008" cy="5029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3816" y="5715000"/>
            <a:ext cx="21945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机器学习因果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91256" y="5715000"/>
            <a:ext cx="21031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ml-causal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77256" y="5715000"/>
            <a:ext cx="2971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异质处理效应 / 高维控制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31936" y="5715000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正则化 &amp; 推断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6263640"/>
            <a:ext cx="10607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底座技能：stata（执行）· stats（检验与诊断）贯穿所有方法。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4 · 方法选型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60704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一棵决策树：处理是怎么分配的？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2794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15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社科实证论文 Workflow  ·  econfin-workflow-toolkit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691640"/>
            <a:ext cx="2743200" cy="548640"/>
          </a:xfrm>
          <a:prstGeom prst="roundRect">
            <a:avLst>
              <a:gd name="adj" fmla="val 2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36576" r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处理（policy/treatment）如何分配？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697480"/>
            <a:ext cx="2121408" cy="3017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697480"/>
            <a:ext cx="2121408" cy="8686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770632"/>
            <a:ext cx="1901952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有明确时点的政策冲击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3703320"/>
            <a:ext cx="1865376" cy="1920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→ DiD / 事件研究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多期、有处理组与对照组，且能论证平行趋势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3804" y="2240280"/>
            <a:ext cx="25400" cy="45720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71216" y="2697480"/>
            <a:ext cx="2121408" cy="3017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71216" y="2697480"/>
            <a:ext cx="2121408" cy="868680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80944" y="2770632"/>
            <a:ext cx="1901952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由阈值规则决定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3703320"/>
            <a:ext cx="1865376" cy="1920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2E8686"/>
                </a:solidFill>
                <a:latin typeface="Microsoft YaHei"/>
                <a:ea typeface="Microsoft YaHei"/>
                <a:cs typeface="Microsoft YaHei"/>
              </a:rPr>
              <a:t>→ RDD 断点回归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running variable 跨过 cutoff 即受处理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19220" y="2240280"/>
            <a:ext cx="25400" cy="45720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56632" y="2697480"/>
            <a:ext cx="2121408" cy="3017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56632" y="2697480"/>
            <a:ext cx="2121408" cy="868680"/>
          </a:xfrm>
          <a:prstGeom prst="rect">
            <a:avLst/>
          </a:prstGeom>
          <a:solidFill>
            <a:srgbClr val="D9A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2770632"/>
            <a:ext cx="1901952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存在外生工具变量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4648" y="3703320"/>
            <a:ext cx="1865376" cy="1920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D9A521"/>
                </a:solidFill>
                <a:latin typeface="Microsoft YaHei"/>
                <a:ea typeface="Microsoft YaHei"/>
                <a:cs typeface="Microsoft YaHei"/>
              </a:rPr>
              <a:t>→ IV / 2SLS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工具影响处理、但只通过处理影响结果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04636" y="2240280"/>
            <a:ext cx="25400" cy="45720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42048" y="2697480"/>
            <a:ext cx="2121408" cy="3017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42048" y="2697480"/>
            <a:ext cx="2121408" cy="868680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51776" y="2770632"/>
            <a:ext cx="1901952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仅单一处理单元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0064" y="3703320"/>
            <a:ext cx="1865376" cy="1920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2E8686"/>
                </a:solidFill>
                <a:latin typeface="Microsoft YaHei"/>
                <a:ea typeface="Microsoft YaHei"/>
                <a:cs typeface="Microsoft YaHei"/>
              </a:rPr>
              <a:t>→ 合成控制 SCM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用对照单元的加权组合构造反事实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90052" y="2240280"/>
            <a:ext cx="25400" cy="45720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27464" y="2697480"/>
            <a:ext cx="2121408" cy="3017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427464" y="2697480"/>
            <a:ext cx="2121408" cy="86868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37192" y="2770632"/>
            <a:ext cx="1901952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仅可控混淆 / 观测性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5480" y="3703320"/>
            <a:ext cx="1865376" cy="1920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→ Panel FE / OLS / ML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靠固定效应与控制变量逼近条件独立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75468" y="2240280"/>
            <a:ext cx="25400" cy="45720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提醒：</a:t>
            </a:r>
            <a:r>
              <a:rPr sz="1250" b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方法服从于识别，不是反过来。先问『反事实从哪来』，再选估计量。本次演示走最左侧分支 → DiD。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5029200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0" b="1" i="0">
                <a:solidFill>
                  <a:srgbClr val="14284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331720"/>
            <a:ext cx="109728" cy="20116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2331720"/>
            <a:ext cx="6766560" cy="2377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聚焦 DiD（本次演示）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FOCUS · DiD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6D2E2"/>
                </a:solidFill>
                <a:latin typeface="Microsoft YaHei"/>
                <a:ea typeface="Microsoft YaHei"/>
                <a:cs typeface="Microsoft YaHei"/>
              </a:rPr>
              <a:t>用『差中之差』剥离共同趋势 —— 从核心逻辑、平行趋势、
交错偏误到稳健性，配一个可运行的 Notebook。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BA6"/>
                </a:solidFill>
                <a:latin typeface="Microsoft YaHei"/>
                <a:ea typeface="Microsoft YaHei"/>
                <a:cs typeface="Microsoft YaHei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5 · 聚焦 DiD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60704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双重差分：用『差中之差』剥离掉共同趋势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2794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17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社科实证论文 Workflow  ·  econfin-workflow-toolkit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394960" cy="246888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2×2 设计：四个均值，两次相减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8408" y="2514600"/>
            <a:ext cx="1170432" cy="502920"/>
          </a:xfrm>
          <a:prstGeom prst="rect">
            <a:avLst/>
          </a:prstGeom>
          <a:solidFill>
            <a:srgbClr val="1F3A5F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514600"/>
            <a:ext cx="1170432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2514600"/>
            <a:ext cx="1170432" cy="502920"/>
          </a:xfrm>
          <a:prstGeom prst="rect">
            <a:avLst/>
          </a:prstGeom>
          <a:solidFill>
            <a:srgbClr val="1F3A5F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2514600"/>
            <a:ext cx="1170432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处理前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2514600"/>
            <a:ext cx="1170432" cy="502920"/>
          </a:xfrm>
          <a:prstGeom prst="rect">
            <a:avLst/>
          </a:prstGeom>
          <a:solidFill>
            <a:srgbClr val="1F3A5F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9272" y="2514600"/>
            <a:ext cx="1170432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处理后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9704" y="2514600"/>
            <a:ext cx="1170432" cy="502920"/>
          </a:xfrm>
          <a:prstGeom prst="rect">
            <a:avLst/>
          </a:prstGeom>
          <a:solidFill>
            <a:srgbClr val="1F3A5F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9704" y="2514600"/>
            <a:ext cx="1170432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差(Δ)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" y="3017520"/>
            <a:ext cx="1170432" cy="502920"/>
          </a:xfrm>
          <a:prstGeom prst="rect">
            <a:avLst/>
          </a:prstGeom>
          <a:solidFill>
            <a:srgbClr val="ECEFF3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017520"/>
            <a:ext cx="1170432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处理组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8840" y="3017520"/>
            <a:ext cx="11704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40" y="3017520"/>
            <a:ext cx="1170432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Ȳ T,pre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9272" y="3017520"/>
            <a:ext cx="11704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9272" y="3017520"/>
            <a:ext cx="1170432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Ȳ T,post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9704" y="3017520"/>
            <a:ext cx="11704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9704" y="3017520"/>
            <a:ext cx="1170432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Δ_T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" y="3520440"/>
            <a:ext cx="1170432" cy="502920"/>
          </a:xfrm>
          <a:prstGeom prst="rect">
            <a:avLst/>
          </a:prstGeom>
          <a:solidFill>
            <a:srgbClr val="ECEFF3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" y="3520440"/>
            <a:ext cx="1170432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对照组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48840" y="3520440"/>
            <a:ext cx="11704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48840" y="3520440"/>
            <a:ext cx="1170432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Ȳ C,pre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19272" y="3520440"/>
            <a:ext cx="11704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19272" y="3520440"/>
            <a:ext cx="1170432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Ȳ C,post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9704" y="3520440"/>
            <a:ext cx="11704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9704" y="3520440"/>
            <a:ext cx="1170432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Δ_C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3977640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DiD = Δ_T − Δ_C</a:t>
            </a:r>
            <a:r>
              <a:rPr sz="1200" b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  →  剔除共同时间趋势后的处理效应 ATT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1828800"/>
            <a:ext cx="5257800" cy="24688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2011680"/>
            <a:ext cx="4754880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回归形式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Yᵢₜ = β₀ + β₁·Treatᵢ + β₂·Postₜ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       + β₃·(Treatᵢ × Postₜ) + εᵢₜ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β₃ </a:t>
            </a: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就是 DiD 估计量（ATT）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D2E2"/>
                </a:solidFill>
                <a:latin typeface="Microsoft YaHei"/>
                <a:ea typeface="Microsoft YaHei"/>
                <a:cs typeface="Microsoft YaHei"/>
              </a:rPr>
              <a:t>面板更优：双向固定效应 TWFE，聚类稳健标准误（按处理层级聚类）。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572000"/>
            <a:ext cx="1083564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5800" y="4572000"/>
            <a:ext cx="109728" cy="14173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4709160"/>
            <a:ext cx="103327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唯一的核心假设：平行趋势（Parallel Trends）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若没有处理，处理组的结果本应与对照组『平行』地演变。这个反事实不可直接观测 —— 所以我们用处理前的趋势是否平行来『侧面』验证它。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5 · 平行趋势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60704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事件研究：把单个 Post 拆成『相对时间』动态系数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2794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18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社科实证论文 Workflow  ·  econfin-workflow-toolkit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212080" cy="420624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83080"/>
            <a:ext cx="91440" cy="4206240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84248"/>
            <a:ext cx="4800600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E8686"/>
                </a:solidFill>
                <a:latin typeface="Microsoft YaHei"/>
                <a:ea typeface="Microsoft YaHei"/>
                <a:cs typeface="Microsoft YaHei"/>
              </a:rPr>
              <a:t>做法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用相对时间哑变量替换单一 Post，以 t = −1 为基准：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Yᵢₜ = Σₖ βₖ·1{t−E=k} + αᵢ + δₜ + εᵢₜ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E8686"/>
                </a:solidFill>
                <a:latin typeface="Microsoft YaHei"/>
                <a:ea typeface="Microsoft YaHei"/>
                <a:cs typeface="Microsoft YaHei"/>
              </a:rPr>
              <a:t>怎么读这张图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处理前系数 ≈ 0 → 支持平行趋势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处理前联合 F 检验：所有 pre 系数 = 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处理后系数 → 动态处理效应轨迹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警惕预期效应（t−2 起就偏离 0）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注意 Ashenfelter's dip（处理前下陷）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783080"/>
            <a:ext cx="5349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874520"/>
            <a:ext cx="4983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事件研究示意（pre≈0，post 跳升）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80" y="4251960"/>
            <a:ext cx="4251960" cy="1905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12280" y="2331720"/>
            <a:ext cx="19050" cy="329184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38260" y="2331720"/>
            <a:ext cx="19050" cy="32918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48272" y="4023360"/>
            <a:ext cx="128016" cy="128016"/>
          </a:xfrm>
          <a:prstGeom prst="ellipse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02120" y="3922776"/>
            <a:ext cx="20320" cy="329184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56932" y="4434840"/>
            <a:ext cx="128016" cy="128016"/>
          </a:xfrm>
          <a:prstGeom prst="ellipse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10780" y="4334256"/>
            <a:ext cx="20320" cy="329184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65592" y="4187952"/>
            <a:ext cx="128016" cy="128016"/>
          </a:xfrm>
          <a:prstGeom prst="ellipse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19440" y="4087368"/>
            <a:ext cx="20320" cy="329184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74252" y="3364992"/>
            <a:ext cx="128016" cy="128016"/>
          </a:xfrm>
          <a:prstGeom prst="ellipse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28100" y="3264408"/>
            <a:ext cx="20320" cy="32918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82912" y="2871216"/>
            <a:ext cx="128016" cy="128016"/>
          </a:xfrm>
          <a:prstGeom prst="ellipse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36760" y="2770632"/>
            <a:ext cx="20320" cy="32918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91572" y="2706624"/>
            <a:ext cx="128016" cy="128016"/>
          </a:xfrm>
          <a:prstGeom prst="ellipse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345420" y="2606040"/>
            <a:ext cx="20320" cy="32918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000232" y="2624328"/>
            <a:ext cx="128016" cy="128016"/>
          </a:xfrm>
          <a:prstGeom prst="ellipse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054080" y="2523744"/>
            <a:ext cx="20320" cy="32918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9620" y="43891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处理时点 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532120"/>
            <a:ext cx="4983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蓝点=处理前（应贴近 0 线）   橙点=处理后（显著为正）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5 · 交错 DiD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60704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当各单位在不同时间被处理：别再无脑 TWFE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2794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19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社科实证论文 Workflow  ·  econfin-workflow-toolkit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91640"/>
            <a:ext cx="10835640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9728" cy="9144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783080"/>
            <a:ext cx="1033272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陷阱：</a:t>
            </a: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处理时点交错 + 效应异质 时，标准 TWFE 会用『已处理单位』当对照，产生“负权重”，估计量可能严重有偏（甚至变号）。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834640"/>
            <a:ext cx="534924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834640"/>
            <a:ext cx="91440" cy="1371600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44368"/>
            <a:ext cx="498348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Callaway &amp; Sant'Anna</a:t>
            </a:r>
            <a:r>
              <a:rPr sz="1100" b="1">
                <a:solidFill>
                  <a:srgbClr val="2E8686"/>
                </a:solidFill>
                <a:latin typeface="Microsoft YaHei"/>
                <a:ea typeface="Microsoft YaHei"/>
                <a:cs typeface="Microsoft YaHei"/>
              </a:rPr>
              <a:t>   [csdid / did]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按『组×时间』估 ATT(g,t)，再聚合；干净对照组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3912" y="2834640"/>
            <a:ext cx="534924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53912" y="2834640"/>
            <a:ext cx="91440" cy="1371600"/>
          </a:xfrm>
          <a:prstGeom prst="rect">
            <a:avLst/>
          </a:prstGeom>
          <a:solidFill>
            <a:srgbClr val="D9A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944368"/>
            <a:ext cx="498348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Sun &amp; Abraham</a:t>
            </a:r>
            <a:r>
              <a:rPr sz="1100" b="1">
                <a:solidFill>
                  <a:srgbClr val="D9A521"/>
                </a:solidFill>
                <a:latin typeface="Microsoft YaHei"/>
                <a:ea typeface="Microsoft YaHei"/>
                <a:cs typeface="Microsoft YaHei"/>
              </a:rPr>
              <a:t>   [sunab / fixest]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交互加权事件研究，修正污染的相对时间系数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352544"/>
            <a:ext cx="534924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352544"/>
            <a:ext cx="91440" cy="13716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62272"/>
            <a:ext cx="498348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Borusyak et al. (BJS)</a:t>
            </a:r>
            <a:r>
              <a:rPr sz="1100" b="1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   [did_imputation]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插补法：先用未处理拟合反事实，再求残差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3912" y="4352544"/>
            <a:ext cx="534924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3912" y="4352544"/>
            <a:ext cx="91440" cy="137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4462272"/>
            <a:ext cx="498348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de Chaisemartin–D'Haultf.</a:t>
            </a:r>
            <a:r>
              <a:rPr sz="11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   [did_multiplegt]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允许处理开关、连续/多值处理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897880"/>
            <a:ext cx="10835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先诊断后估计：</a:t>
            </a:r>
            <a:r>
              <a:rPr sz="1250" b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用 Goodman-Bacon 分解看『坏对照』权重有多大；权重显著就果断换上面任一现代估计量。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5 · 稳健性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60704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审稿人会逐条核对的 DiD 体检清单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2794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20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社科实证论文 Workflow  ·  econfin-workflow-toolkit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349240" cy="932688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83080"/>
            <a:ext cx="502920" cy="932688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502920" cy="9326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1874520"/>
            <a:ext cx="457200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平行趋势检验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事件研究图 + 处理前联合 F 检验；Roth(2022) 功效分析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3912" y="1783080"/>
            <a:ext cx="5349240" cy="932688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3912" y="1783080"/>
            <a:ext cx="502920" cy="932688"/>
          </a:xfrm>
          <a:prstGeom prst="rect">
            <a:avLst/>
          </a:prstGeom>
          <a:solidFill>
            <a:srgbClr val="D9A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1783080"/>
            <a:ext cx="502920" cy="9326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874520"/>
            <a:ext cx="457200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安慰剂处理时点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把处理提前 1–2 期，伪 DiD 应不显著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834640"/>
            <a:ext cx="5349240" cy="932688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834640"/>
            <a:ext cx="502920" cy="93268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834640"/>
            <a:ext cx="502920" cy="9326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2926080"/>
            <a:ext cx="457200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安慰剂处理组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仅用对照单元造假处理，系数应为零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3912" y="2834640"/>
            <a:ext cx="5349240" cy="932688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3912" y="2834640"/>
            <a:ext cx="502920" cy="932688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2834640"/>
            <a:ext cx="502920" cy="9326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926080"/>
            <a:ext cx="457200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替换对照组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限定更可比的对照，结论应稳定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886200"/>
            <a:ext cx="5349240" cy="932688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3886200"/>
            <a:ext cx="502920" cy="93268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886200"/>
            <a:ext cx="502920" cy="9326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4168" y="3977640"/>
            <a:ext cx="457200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交错偏误自检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Bacon 分解 + CS / SA / BJS 对照主回归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3912" y="3886200"/>
            <a:ext cx="5349240" cy="932688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53912" y="3886200"/>
            <a:ext cx="502920" cy="932688"/>
          </a:xfrm>
          <a:prstGeom prst="rect">
            <a:avLst/>
          </a:prstGeom>
          <a:solidFill>
            <a:srgbClr val="D9A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53912" y="3886200"/>
            <a:ext cx="502920" cy="9326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977640"/>
            <a:ext cx="457200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聚类与推断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按处理层级聚类；少簇时 wild cluster bootstrap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937760"/>
            <a:ext cx="5349240" cy="932688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4937760"/>
            <a:ext cx="502920" cy="93268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937760"/>
            <a:ext cx="502920" cy="9326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44168" y="5029200"/>
            <a:ext cx="457200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预期 &amp; 溢出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检验 anticipation；SUTVA / 邻近溢出缓冲带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53912" y="4937760"/>
            <a:ext cx="5349240" cy="932688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53912" y="4937760"/>
            <a:ext cx="502920" cy="932688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53912" y="4937760"/>
            <a:ext cx="502920" cy="9326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5029200"/>
            <a:ext cx="457200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剂量反应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连续处理强度，验证『越强越大』的单调性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5 · 实操演示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60704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did_demo.ipynb：6 个 cell 跑通一个完整 DiD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2794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21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社科实证论文 Workflow  ·  econfin-workflow-toolkit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107899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配套技能：</a:t>
            </a:r>
            <a:r>
              <a:rPr sz="1400" b="1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did-analysis</a:t>
            </a:r>
            <a:r>
              <a:rPr sz="1350" b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   ·   纯 Python（pandas + statsmodels + matplotlib），打开即跑，无需外部数据。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286000"/>
            <a:ext cx="534924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286000"/>
            <a:ext cx="640080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86000"/>
            <a:ext cx="640080" cy="1143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95728"/>
            <a:ext cx="443484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生成模拟面板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200 个体 × 12 年的交错政策；植入已知真实 ATT，便于对照估计是否还原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3912" y="2286000"/>
            <a:ext cx="534924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3912" y="2286000"/>
            <a:ext cx="640080" cy="1143000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2286000"/>
            <a:ext cx="640080" cy="1143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2395728"/>
            <a:ext cx="443484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可视化原始趋势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处理组 vs 对照组的结果均值时间序列，肉眼看『处理后分叉』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566160"/>
            <a:ext cx="534924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566160"/>
            <a:ext cx="640080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66160"/>
            <a:ext cx="640080" cy="1143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675888"/>
            <a:ext cx="443484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2×2 / TWFE 基准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smf.ols 与双向固定效应回归，聚类稳健标准误，读出 β₃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3912" y="3566160"/>
            <a:ext cx="534924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53912" y="3566160"/>
            <a:ext cx="640080" cy="1143000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53912" y="3566160"/>
            <a:ext cx="640080" cy="1143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3675888"/>
            <a:ext cx="443484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事件研究 + 平行趋势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相对时间系数图 + 处理前联合检验，给出可放进论文的 Figure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846320"/>
            <a:ext cx="534924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46320"/>
            <a:ext cx="640080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846320"/>
            <a:ext cx="640080" cy="1143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956048"/>
            <a:ext cx="443484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稳健性：安慰剂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伪处理时点 / 伪处理组，确认主效应不是噪声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3912" y="4846320"/>
            <a:ext cx="534924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4846320"/>
            <a:ext cx="640080" cy="1143000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53912" y="4846320"/>
            <a:ext cx="640080" cy="1143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2" y="4956048"/>
            <a:ext cx="443484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导出表与图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回归表（文本/LaTeX）与事件研究图 PNG，直接进入 table / figure 阶段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5029200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0" b="1" i="0">
                <a:solidFill>
                  <a:srgbClr val="14284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331720"/>
            <a:ext cx="109728" cy="20116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2331720"/>
            <a:ext cx="6766560" cy="2377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结果呈现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TABLES &amp; FIGURES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6D2E2"/>
                </a:solidFill>
                <a:latin typeface="Microsoft YaHei"/>
                <a:ea typeface="Microsoft YaHei"/>
                <a:cs typeface="Microsoft YaHei"/>
              </a:rPr>
              <a:t>把估计结果排成审稿人一眼能读的表，
把识别直觉画成一张胜过半页文字的图。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BA6"/>
                </a:solidFill>
                <a:latin typeface="Microsoft YaHei"/>
                <a:ea typeface="Microsoft YaHei"/>
                <a:cs typeface="Microsoft YaHei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6 · 结果呈现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60704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table：把回归结果排成『审稿人一眼能读』的表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2794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23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社科实证论文 Workflow  ·  econfin-workflow-toolkit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4160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91440" cy="4160520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4754880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8686"/>
                </a:solidFill>
                <a:latin typeface="Microsoft YaHei"/>
                <a:ea typeface="Microsoft YaHei"/>
                <a:cs typeface="Microsoft YaHei"/>
              </a:rPr>
              <a:t>出版级回归表要素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• 系数 + 括号内（聚类）标准误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• 显著性星标 *** ** *（脚注口径）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• 控制变量 / 固定效应 用『Yes / No』行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• N、R²（within R²）、聚类数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• 列标题=被解释变量或样本切分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• 三线表（booktabs），无竖线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• 题注自解释：读表不读正文也懂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828800"/>
            <a:ext cx="53492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示例：DiD 主回归表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2423160"/>
            <a:ext cx="2103120" cy="411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42316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2423160"/>
            <a:ext cx="1371600" cy="411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42316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(1) 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21240" y="2423160"/>
            <a:ext cx="1371600" cy="411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242316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(2) TWFE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2834640"/>
            <a:ext cx="2103120" cy="41148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83464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Treat×Post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49640" y="2834640"/>
            <a:ext cx="1371600" cy="41148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283464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0.182***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21240" y="2834640"/>
            <a:ext cx="1371600" cy="41148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21240" y="283464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0.171***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24612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324612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(0.041)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324612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(0.038)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65760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个体固定效应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65760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365760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Yes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06908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年份固定效应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406908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406908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Yes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48056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448056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2,400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448056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2,400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89204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R²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489204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0.12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21240" y="489204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0.78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2423160"/>
            <a:ext cx="4846320" cy="25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46520" y="5303520"/>
            <a:ext cx="4846320" cy="25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548640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括号内为公司层面聚类稳健标准误。*** p&lt;0.01。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6 · 结果呈现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60704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figure：一张事件研究图，胜过半页文字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2794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24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社科实证论文 Workflow  ·  econfin-workflow-toolkit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3529584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82296" cy="21945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947672"/>
            <a:ext cx="3191256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事件研究图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相对时间系数 + 95% CI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处理前贴 0 线 = 平行趋势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DiD 论文的『门面图』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1828800"/>
            <a:ext cx="3529584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828800"/>
            <a:ext cx="82296" cy="2194560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947672"/>
            <a:ext cx="3191256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系数对比图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多估计量并排：TWFE / CS / SA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coefplot 风格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展示结论稳健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82712" y="1828800"/>
            <a:ext cx="3529584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82712" y="1828800"/>
            <a:ext cx="82296" cy="2194560"/>
          </a:xfrm>
          <a:prstGeom prst="rect">
            <a:avLst/>
          </a:prstGeom>
          <a:solidFill>
            <a:srgbClr val="D9A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947672"/>
            <a:ext cx="3191256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分布 / 趋势图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处理组 vs 对照组均值轨迹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密度 / 箱线对比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讲清识别直觉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297680"/>
            <a:ext cx="10835640" cy="1691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109728" cy="1691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462272"/>
            <a:ext cx="10241280" cy="1417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图形的『出版级』标准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矢量优先：</a:t>
            </a:r>
            <a:r>
              <a:rPr sz="1250" b="0">
                <a:solidFill>
                  <a:srgbClr val="C6D2E2"/>
                </a:solidFill>
                <a:latin typeface="Microsoft YaHei"/>
                <a:ea typeface="Microsoft YaHei"/>
                <a:cs typeface="Microsoft YaHei"/>
              </a:rPr>
              <a:t>PDF / SVG，放大不糊；字号与正文匹配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自解释：</a:t>
            </a:r>
            <a:r>
              <a:rPr sz="1250" b="0">
                <a:solidFill>
                  <a:srgbClr val="C6D2E2"/>
                </a:solidFill>
                <a:latin typeface="Microsoft YaHei"/>
                <a:ea typeface="Microsoft YaHei"/>
                <a:cs typeface="Microsoft YaHei"/>
              </a:rPr>
              <a:t>坐标轴标签 + 单位 + 图例 + 题注，脱离正文也能读懂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克制：</a:t>
            </a:r>
            <a:r>
              <a:rPr sz="1250" b="0">
                <a:solidFill>
                  <a:srgbClr val="C6D2E2"/>
                </a:solidFill>
                <a:latin typeface="Microsoft YaHei"/>
                <a:ea typeface="Microsoft YaHei"/>
                <a:cs typeface="Microsoft YaHei"/>
              </a:rPr>
              <a:t>去网格噪声、去 3D、配色色盲友好；一图一信息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5029200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0" b="1" i="0">
                <a:solidFill>
                  <a:srgbClr val="14284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331720"/>
            <a:ext cx="109728" cy="20116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2331720"/>
            <a:ext cx="6766560" cy="2377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写作 · 评审 · 投稿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WRITE · REVIEW · SUBMIT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6D2E2"/>
                </a:solidFill>
                <a:latin typeface="Microsoft YaHei"/>
                <a:ea typeface="Microsoft YaHei"/>
                <a:cs typeface="Microsoft YaHei"/>
              </a:rPr>
              <a:t>初稿之后的一条龙打磨、内部模拟审稿与引用核查，
最后打包成一次面向目标期刊的投稿。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BA6"/>
                </a:solidFill>
                <a:latin typeface="Microsoft YaHei"/>
                <a:ea typeface="Microsoft YaHei"/>
                <a:cs typeface="Microsoft YaHei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7 · 写作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60704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paper-pipeline：初稿之后的『一条龙打磨』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2794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26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社科实证论文 Workflow  ·  econfin-workflow-toolkit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paper-writer</a:t>
            </a:r>
            <a:r>
              <a:rPr sz="1350" b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 出初稿  →  </a:t>
            </a:r>
            <a:r>
              <a:rPr sz="1400" b="1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paper-pipeline</a:t>
            </a:r>
            <a:r>
              <a:rPr sz="1350" b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 按固定顺序调度 5 个技能，顺序本身就是方法论。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77440"/>
            <a:ext cx="1993392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377440"/>
            <a:ext cx="1993392" cy="502920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04872"/>
            <a:ext cx="199339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Stage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999232"/>
            <a:ext cx="1773936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paper-polish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机械/一致性/引用纠错</a:t>
            </a:r>
          </a:p>
        </p:txBody>
      </p:sp>
      <p:sp>
        <p:nvSpPr>
          <p:cNvPr id="14" name="Chevron 13"/>
          <p:cNvSpPr/>
          <p:nvPr/>
        </p:nvSpPr>
        <p:spPr>
          <a:xfrm>
            <a:off x="2642616" y="3200400"/>
            <a:ext cx="182880" cy="502920"/>
          </a:xfrm>
          <a:prstGeom prst="chevron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43784" y="2377440"/>
            <a:ext cx="1993392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43784" y="2377440"/>
            <a:ext cx="1993392" cy="502920"/>
          </a:xfrm>
          <a:prstGeom prst="rect">
            <a:avLst/>
          </a:prstGeom>
          <a:solidFill>
            <a:srgbClr val="D9A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43784" y="2404872"/>
            <a:ext cx="199339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Stage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3512" y="2999232"/>
            <a:ext cx="1773936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paper-self-revise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在干净稿上做深度内容自审</a:t>
            </a:r>
          </a:p>
        </p:txBody>
      </p:sp>
      <p:sp>
        <p:nvSpPr>
          <p:cNvPr id="19" name="Chevron 18"/>
          <p:cNvSpPr/>
          <p:nvPr/>
        </p:nvSpPr>
        <p:spPr>
          <a:xfrm>
            <a:off x="4800600" y="3200400"/>
            <a:ext cx="182880" cy="502920"/>
          </a:xfrm>
          <a:prstGeom prst="chevron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01768" y="2377440"/>
            <a:ext cx="1993392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01768" y="2377440"/>
            <a:ext cx="1993392" cy="5029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1768" y="2404872"/>
            <a:ext cx="199339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Stage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11496" y="2999232"/>
            <a:ext cx="1773936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paper-style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按目标期刊重构标题与结构</a:t>
            </a:r>
          </a:p>
        </p:txBody>
      </p:sp>
      <p:sp>
        <p:nvSpPr>
          <p:cNvPr id="24" name="Chevron 23"/>
          <p:cNvSpPr/>
          <p:nvPr/>
        </p:nvSpPr>
        <p:spPr>
          <a:xfrm>
            <a:off x="6958584" y="3200400"/>
            <a:ext cx="182880" cy="502920"/>
          </a:xfrm>
          <a:prstGeom prst="chevron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59752" y="2377440"/>
            <a:ext cx="1993392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59752" y="2377440"/>
            <a:ext cx="1993392" cy="502920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9752" y="2404872"/>
            <a:ext cx="199339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Stage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2999232"/>
            <a:ext cx="1773936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paper-polish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二次润色：清理 2–3 步引入的接缝</a:t>
            </a:r>
          </a:p>
        </p:txBody>
      </p:sp>
      <p:sp>
        <p:nvSpPr>
          <p:cNvPr id="29" name="Chevron 28"/>
          <p:cNvSpPr/>
          <p:nvPr/>
        </p:nvSpPr>
        <p:spPr>
          <a:xfrm>
            <a:off x="9116568" y="3200400"/>
            <a:ext cx="182880" cy="502920"/>
          </a:xfrm>
          <a:prstGeom prst="chevron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17736" y="2377440"/>
            <a:ext cx="1993392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17736" y="2377440"/>
            <a:ext cx="1993392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17736" y="2404872"/>
            <a:ext cx="199339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Stage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7464" y="2999232"/>
            <a:ext cx="1773936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reference-verify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最后做引用核查（生成 xlsx 报告）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4892040"/>
            <a:ext cx="10835640" cy="1097280"/>
          </a:xfrm>
          <a:prstGeom prst="rect">
            <a:avLst/>
          </a:prstGeom>
          <a:solidFill>
            <a:srgbClr val="ECEFF3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010912"/>
            <a:ext cx="1033272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为什么顺序不能乱：</a:t>
            </a:r>
            <a:r>
              <a:rPr sz="1300" b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先润色让自审聚焦实质；内容稳定后再改结构避免反复；因为 2–3 步动了文字，所以要二次润色；引用核查放最后，否则会被后续编辑作废。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7 · 评审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60704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在投出去之前，先让 AI 当一次审稿人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2794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27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社科实证论文 Workflow  ·  econfin-workflow-toolkit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3529584" cy="269748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82296" cy="2697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947672"/>
            <a:ext cx="3191256" cy="2514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模拟审稿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referee-report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以目标期刊审稿人视角写报告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指出识别威胁、稳健性缺口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区分『大修 / 小修』级问题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1828800"/>
            <a:ext cx="3529584" cy="269748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828800"/>
            <a:ext cx="82296" cy="2697480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947672"/>
            <a:ext cx="3191256" cy="2514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8686"/>
                </a:solidFill>
                <a:latin typeface="Microsoft YaHei"/>
                <a:ea typeface="Microsoft YaHei"/>
                <a:cs typeface="Microsoft YaHei"/>
              </a:rPr>
              <a:t>回应修改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paper-referee-revise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逐条回应审稿意见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生成 response letter 草稿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把修改落到正文对应位置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82712" y="1828800"/>
            <a:ext cx="3529584" cy="269748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82712" y="1828800"/>
            <a:ext cx="82296" cy="2697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947672"/>
            <a:ext cx="3191256" cy="2514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引用核查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reference-verify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核对每条引用真实存在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检查作者/年份/期刊一致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输出 xlsx 差错报告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800600"/>
            <a:ext cx="10835640" cy="1188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800600"/>
            <a:ext cx="109728" cy="11887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937760"/>
            <a:ext cx="102412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评审不是终点，是又一轮迭代的起点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6D2E2"/>
                </a:solidFill>
                <a:latin typeface="Microsoft YaHei"/>
                <a:ea typeface="Microsoft YaHei"/>
                <a:cs typeface="Microsoft YaHei"/>
              </a:rPr>
              <a:t>审稿意见若涉及新的实证（如补一个稳健性），回到第④阶段重跑 did-analysis / 相应估计技能 —— 工作流天然支持『回环』。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7 · 投稿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60704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paper-submission：把『一篇论文』打包成『一次投稿』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2794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28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社科实证论文 Workflow  ·  econfin-workflow-toolkit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3529584" cy="2377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82296" cy="2377440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947672"/>
            <a:ext cx="3191256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期刊匹配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按主题/方法/样本匹配候选期刊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对照 journal-digest 画像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排序：契合度 × 命中率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1828800"/>
            <a:ext cx="3529584" cy="2377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828800"/>
            <a:ext cx="82296" cy="2377440"/>
          </a:xfrm>
          <a:prstGeom prst="rect">
            <a:avLst/>
          </a:prstGeom>
          <a:solidFill>
            <a:srgbClr val="D9A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947672"/>
            <a:ext cx="3191256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格式适配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按目标期刊模板排版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字数、章节、参考文献样式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图表标题与编号规范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82712" y="1828800"/>
            <a:ext cx="3529584" cy="2377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82712" y="1828800"/>
            <a:ext cx="82296" cy="23774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947672"/>
            <a:ext cx="3191256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投稿材料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cover letter 草稿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highlights / 摘要要点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推荐审稿人 + 利益冲突声明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434840"/>
            <a:ext cx="10835640" cy="1554480"/>
          </a:xfrm>
          <a:prstGeom prst="rect">
            <a:avLst/>
          </a:prstGeom>
          <a:solidFill>
            <a:srgbClr val="F5F7FA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434840"/>
            <a:ext cx="109728" cy="1554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599432"/>
            <a:ext cx="1024128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工具箱内置的期刊知识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结构化期刊清单（journals.json）涵盖 60+ 英文顶刊（经济/金融/会计）；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China-CF-study / Foreign-CF-study 提供中国情境与海外公司金融的目标期刊池与写作范式；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paper-style 据此把同一篇稿子，快速改写成不同期刊的『口味』。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6070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60704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一页看懂：技能如何串成一条研究流水线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2794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29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社科实证论文 Workflow  ·  econfin-workflow-toolkit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10835640" cy="411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83080"/>
            <a:ext cx="118872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7128" y="1783080"/>
            <a:ext cx="658368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调用的技能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33688" y="1783080"/>
            <a:ext cx="25146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产出物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194560"/>
            <a:ext cx="10835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194560"/>
            <a:ext cx="64008" cy="512064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2194560"/>
            <a:ext cx="118872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8686"/>
                </a:solidFill>
                <a:latin typeface="Microsoft YaHei"/>
                <a:ea typeface="Microsoft YaHei"/>
                <a:cs typeface="Microsoft YaHei"/>
              </a:rPr>
              <a:t>①选题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194560"/>
            <a:ext cx="65836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idea-finder · novelty-check · significance-search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194560"/>
            <a:ext cx="251460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研究问题 + 贡献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706624"/>
            <a:ext cx="10835640" cy="512064"/>
          </a:xfrm>
          <a:prstGeom prst="rect">
            <a:avLst/>
          </a:prstGeom>
          <a:solidFill>
            <a:srgbClr val="ECEFF3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2706624"/>
            <a:ext cx="64008" cy="512064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2706624"/>
            <a:ext cx="118872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8686"/>
                </a:solidFill>
                <a:latin typeface="Microsoft YaHei"/>
                <a:ea typeface="Microsoft YaHei"/>
                <a:cs typeface="Microsoft YaHei"/>
              </a:rPr>
              <a:t>②设计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2706624"/>
            <a:ext cx="65836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econfin-proposal · journal-digest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706624"/>
            <a:ext cx="251460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识别策略 + 期刊画像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218688"/>
            <a:ext cx="10835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218688"/>
            <a:ext cx="64008" cy="512064"/>
          </a:xfrm>
          <a:prstGeom prst="rect">
            <a:avLst/>
          </a:prstGeom>
          <a:solidFill>
            <a:srgbClr val="D9A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3218688"/>
            <a:ext cx="118872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A521"/>
                </a:solidFill>
                <a:latin typeface="Microsoft YaHei"/>
                <a:ea typeface="Microsoft YaHei"/>
                <a:cs typeface="Microsoft YaHei"/>
              </a:rPr>
              <a:t>③数据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3218688"/>
            <a:ext cx="65836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data-fetcher · data-cleaning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218688"/>
            <a:ext cx="251460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可复现分析数据集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730752"/>
            <a:ext cx="10835640" cy="512064"/>
          </a:xfrm>
          <a:prstGeom prst="rect">
            <a:avLst/>
          </a:prstGeom>
          <a:solidFill>
            <a:srgbClr val="ECEFF3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3730752"/>
            <a:ext cx="64008" cy="5120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" y="3730752"/>
            <a:ext cx="118872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④估计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3730752"/>
            <a:ext cx="65836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did-analysis · panel-data · iv · rdd · scm · stata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3730752"/>
            <a:ext cx="251460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ATT + 稳健性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242816"/>
            <a:ext cx="10835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4242816"/>
            <a:ext cx="64008" cy="512064"/>
          </a:xfrm>
          <a:prstGeom prst="rect">
            <a:avLst/>
          </a:prstGeom>
          <a:solidFill>
            <a:srgbClr val="D9A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" y="4242816"/>
            <a:ext cx="118872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A521"/>
                </a:solidFill>
                <a:latin typeface="Microsoft YaHei"/>
                <a:ea typeface="Microsoft YaHei"/>
                <a:cs typeface="Microsoft YaHei"/>
              </a:rPr>
              <a:t>⑤呈现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4242816"/>
            <a:ext cx="65836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table · figure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4242816"/>
            <a:ext cx="251460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出版级表 &amp; 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754880"/>
            <a:ext cx="10835640" cy="512064"/>
          </a:xfrm>
          <a:prstGeom prst="rect">
            <a:avLst/>
          </a:prstGeom>
          <a:solidFill>
            <a:srgbClr val="ECEFF3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5800" y="4754880"/>
            <a:ext cx="64008" cy="512064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" y="4754880"/>
            <a:ext cx="118872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8686"/>
                </a:solidFill>
                <a:latin typeface="Microsoft YaHei"/>
                <a:ea typeface="Microsoft YaHei"/>
                <a:cs typeface="Microsoft YaHei"/>
              </a:rPr>
              <a:t>⑥写作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48840" y="4754880"/>
            <a:ext cx="65836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paper-writer · paper-pipeline（polish→revise→style）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4754880"/>
            <a:ext cx="251460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结构完整定稿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5266944"/>
            <a:ext cx="10835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5800" y="5266944"/>
            <a:ext cx="64008" cy="512064"/>
          </a:xfrm>
          <a:prstGeom prst="rect">
            <a:avLst/>
          </a:prstGeom>
          <a:solidFill>
            <a:srgbClr val="2E8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3816" y="5266944"/>
            <a:ext cx="118872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8686"/>
                </a:solidFill>
                <a:latin typeface="Microsoft YaHei"/>
                <a:ea typeface="Microsoft YaHei"/>
                <a:cs typeface="Microsoft YaHei"/>
              </a:rPr>
              <a:t>⑦评审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48840" y="5266944"/>
            <a:ext cx="65836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referee-report · paper-referee-revise · reference-verify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15400" y="5266944"/>
            <a:ext cx="251460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意见 + 回应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5779008"/>
            <a:ext cx="10835640" cy="512064"/>
          </a:xfrm>
          <a:prstGeom prst="rect">
            <a:avLst/>
          </a:prstGeom>
          <a:solidFill>
            <a:srgbClr val="ECEFF3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5800" y="5779008"/>
            <a:ext cx="64008" cy="5120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3816" y="5779008"/>
            <a:ext cx="118872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⑧投稿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48840" y="5779008"/>
            <a:ext cx="65836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633"/>
                </a:solidFill>
                <a:latin typeface="Microsoft YaHei"/>
                <a:ea typeface="Microsoft YaHei"/>
                <a:cs typeface="Microsoft YaHei"/>
              </a:rPr>
              <a:t>paper-submission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400" y="5779008"/>
            <a:ext cx="251460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投稿包 + cover letter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4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54864" cy="6858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768096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把流程交给工作流，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40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把判断留给自己。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6D2E2"/>
                </a:solidFill>
                <a:latin typeface="Microsoft YaHei"/>
                <a:ea typeface="Microsoft YaHei"/>
                <a:cs typeface="Microsoft YaHei"/>
              </a:rPr>
              <a:t>AI 负责跑通每一步的脏活，研究者负责识别、解释与取舍。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840480"/>
            <a:ext cx="2377440" cy="381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768096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本次交付物（skills/Paper-WorkFlow/）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社科实证论文工作流.pptx   —   本 30 页演示文稿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did_demo.ipynb   —   可一键运行的 DiD 演示 Notebook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build_pptx.py   —   PPTX 生成脚本（可改主题/内容重生成）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README.md   —   使用说明与技能映射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468880"/>
            <a:ext cx="274320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9FB0C8"/>
                </a:solidFill>
                <a:latin typeface="Microsoft YaHei"/>
                <a:ea typeface="Microsoft YaHei"/>
                <a:cs typeface="Microsoft YaHei"/>
              </a:rPr>
              <a:t>演示方法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双重差分 DiD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9FB0C8"/>
                </a:solidFill>
                <a:latin typeface="Microsoft YaHei"/>
                <a:ea typeface="Microsoft YaHei"/>
                <a:cs typeface="Microsoft YaHei"/>
              </a:rPr>
              <a:t>技能来源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econfin-
workflow-toolkit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7B39"/>
                </a:solidFill>
                <a:latin typeface="Microsoft YaHei"/>
                <a:ea typeface="Microsoft YaHei"/>
                <a:cs typeface="Microsoft YaHei"/>
              </a:rPr>
              <a:t>47 skills · 8 stages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